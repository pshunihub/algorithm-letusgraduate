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4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ALGORITHM TEAM PROJECT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kern="0" spc="-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대학생활 통합 지원 시스템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kern="0" spc="-15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학점 · 스펙 · 구직 활동까지, 대학 생활 전반의 목표 달성과 시간 관리를 보조하는 통합 서비스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9834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팀명  </a:t>
            </a: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박시현 202432734 · 백승혜 202434982 · 이종혁 202235305 · 정회훈 202235330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3365"/>
    </mc:Choice>
    <mc:Fallback xmlns="">
      <p:transition spd="slow" advTm="78336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2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kern="0" spc="-1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팀·프로젝트 소개부터 네 기능의 구현, 그리고 팀 회고까지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865376"/>
            <a:ext cx="420624" cy="420624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2144" y="1865376"/>
            <a:ext cx="4713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-1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팀명 · 팀원 소개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152144" y="2651760"/>
            <a:ext cx="471373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420624" cy="420624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2144" y="2852928"/>
            <a:ext cx="4713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-1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제목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152144" y="3639312"/>
            <a:ext cx="471373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420624" cy="420624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2144" y="3840480"/>
            <a:ext cx="4713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-1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설명  ·  What / Who / When / Why / How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152144" y="4626864"/>
            <a:ext cx="471373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4828032"/>
            <a:ext cx="420624" cy="420624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828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2144" y="4828032"/>
            <a:ext cx="4713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-1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분장  ·  사용한 자료구조 / 알고리즘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23076" y="1865376"/>
            <a:ext cx="420624" cy="420624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23076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26580" y="1865376"/>
            <a:ext cx="4713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-1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데이터 · 설계 / 구현 방법  ·  데이터 / 동작방식 / 핵심코드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926580" y="2651760"/>
            <a:ext cx="471373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323076" y="2852928"/>
            <a:ext cx="420624" cy="420624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323076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26580" y="2852928"/>
            <a:ext cx="4713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-1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시연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926580" y="3639312"/>
            <a:ext cx="471373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323076" y="3840480"/>
            <a:ext cx="420624" cy="420624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323076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26580" y="3840480"/>
            <a:ext cx="4713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-1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Lessons Learned  ·  팀 작업의 짧은 소감 (PMI)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· PROTOTYPE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2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제목 · 프로토타입 설명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kern="0" spc="-1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대학생활 통합 지원 시스템 — 무엇을, 누구를 위해, 언제, 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88366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68880" y="1828800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 졸업에 필요한 학점 · 스펙 · 구직 활동의 관리를 보조한다.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9167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68880" y="2670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체계적인 목표 달성과 효율적인 시간 관리를 원하는 모든 대학생.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1109167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68880" y="3511296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재학생의 수강 관리부터 졸업반의 구직 활동까지, 대학 생활 전반.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9167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4407408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4074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68880" y="4352544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학업과 취업 준비에 대한 가이드를 제공받기 위해.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129784"/>
            <a:ext cx="1109167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5248656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524865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468880" y="5193792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 · 해시 · 정렬 · 그리디 · 힙 · 트리 등 자료구조와 알고리즘을 실제 서비스 기능으로 구현한다.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ROLES &amp; RESPONSIBILITIES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2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분장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kern="0" spc="-1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역할별 · 기능별 분담과 각자 사용한 자료구조 / 알고리즘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54396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942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박시현  </a:t>
            </a: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202432734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스터디 플래너 (학업/성적) · 전체 문서화 총괄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054096"/>
            <a:ext cx="49423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자료구조 · 알고리즘   </a:t>
            </a: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 · 해시 테이블(체이닝) · 병합 정렬 · 그리디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5916" y="1828800"/>
            <a:ext cx="5454396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41948" y="2029968"/>
            <a:ext cx="4942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백승혜  </a:t>
            </a: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202434982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1948" y="2487168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비교과 추천 &amp; 스펙 성장 로드맵 · 기능 통합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1948" y="3054096"/>
            <a:ext cx="49423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자료구조 · 알고리즘   </a:t>
            </a: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 큐 · 힙 · 점수 기반 추천 · 그래프(경로)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54396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4672" y="4133088"/>
            <a:ext cx="4942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이종혁  </a:t>
            </a: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202235305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" y="4590288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취업 합격률 예측 서비스 · 기능 통합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5157216"/>
            <a:ext cx="49423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자료구조 · 알고리즘   </a:t>
            </a: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해시 맵 · 해시 집합 · 트리 · DFS · </a:t>
            </a:r>
            <a:r>
              <a:rPr lang="en-US" sz="135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휴리스틱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5916" y="3931920"/>
            <a:ext cx="5454396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41948" y="4133088"/>
            <a:ext cx="4942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정회훈  </a:t>
            </a:r>
            <a:r>
              <a:rPr lang="en-US" sz="12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202235330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1948" y="4590288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졸업요건 진단 시스템 · PPT / 발표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1948" y="5157216"/>
            <a:ext cx="49423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자료구조 · 알고리즘   </a:t>
            </a: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해시 맵 · 리스트 · 해시 집합 · 정렬 · 그리디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79395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kern="0" spc="-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스터디 플래너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kern="0" spc="-15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D-day 기반 학습 우선순위 산출과 공부 시간 자동 배분 — 박시현 (202432734)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01 · STUDY PLANNER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2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스터디 플래너 — 시연 · 데이터 · 동작방식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kern="0" spc="-1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입력만으로 우선순위를 계산하고, 하루 공부 시간을 과목별로 배분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5878608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· 시연 화면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852160" y="1783080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 데이터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52160" y="2093976"/>
            <a:ext cx="5788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직접 입력 (외부 출처 없음)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과목명 · 학점 · 시험 D-day · 전공 여부</a:t>
            </a:r>
            <a:endParaRPr lang="en-US" sz="115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Key–Value 구조 · 체이닝 해시 테이블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과목명 Key, 속성 딕셔너리 Value · 버킷마다 연결 리스트로 충돌 처리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52160" y="3438144"/>
            <a:ext cx="578815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852160" y="3584448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방식  ·  설계 / 구현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70448" y="3895344"/>
            <a:ext cx="5769864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검증(빈 과목명·과거 날짜 등) 후 CustomHashTable에 노력도·학점·D-day 삽입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(노력도 × 학점) ÷ D-day × 전공가중치(1.5/1.0) 공식으로 우선순위 점수 산출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해시 테이블 → 리스트 추출 후 merge_sort로 점수 내림차순 정렬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가용 시간을 0.1h 단위로 쪼개 그리디 배분 — 단계별 점수 차감으로 독점 방지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CustomQueue 삽입→추출로 최종 학습 순서 가이드 출력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42DEAEC-5CA5-F77B-4C6A-37538BAB8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1626"/>
            <a:ext cx="5047469" cy="3962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01 · STUDY PLANNER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2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자료구조 &amp; 알고리즘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kern="0" spc="-1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‘정확한 우선순위(정렬)’와 ‘현실적인 배분(그리디)’을 결합한 선택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6811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자료구조  </a:t>
            </a:r>
            <a:r>
              <a:rPr lang="en-US" sz="16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 (Queue)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295144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CustomQueue · 최종 스케줄(study_queue) 저장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5065776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스케줄링이 끝난 학습 계획은 순서대로 하나씩 실행·완료해야 합니다. 먼저 스케줄링된 과목을 먼저 처리해야 하므로 FIFO 구조가 가장 적절하다고 판단했습니다.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6811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73368" y="194767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자료구조  </a:t>
            </a:r>
            <a:r>
              <a:rPr lang="en-US" sz="16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해시 테이블 (Hash Table)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73368" y="2295144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CustomHashTable · subjects 생성/조회/삭제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73368" y="2606040"/>
            <a:ext cx="5065776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과목을 찾아 조회·삭제하는 작업이 빈번합니다. 과목명을 인덱스로 평균 O(1)에 접근하도록 했고, 충돌은 버킷 내 연결 리스트로 푸는 체이닝으로 해결했습니다.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01084"/>
            <a:ext cx="546811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49808" y="42656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알고리즘  </a:t>
            </a:r>
            <a:r>
              <a:rPr lang="en-US" sz="16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 정렬 (Merge Sort)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4613148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merge_sort · 우선순위 점수 내림차순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4924044"/>
            <a:ext cx="5065776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항상 O(N log N)을 보장해 최악에도 안정적이고, 안정 정렬이라 점수가 같은 과목의 순서가 뒤섞이지 않는다는 점을 고려해 선택했습니다.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101084"/>
            <a:ext cx="546811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73368" y="42656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알고리즘  </a:t>
            </a:r>
            <a:r>
              <a:rPr lang="en-US" sz="16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그리디 (Greedy)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3368" y="4613148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calculate_planner_schedule · 시간 분배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3368" y="4924044"/>
            <a:ext cx="5065776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시간 안에서 가장 급한(점수 높은) 과목에 최대한 많은 시간을 할당합니다. 동적 가중치 조절(점수 차감)로 배분 밸런스를 유지합니다.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kern="0" spc="-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비교과 추천 &amp; 스펙 성장 로드맵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kern="0" spc="-15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학년·학점·관심 분야 기반 맞춤 추천과 직무별 성장 경로 — 백승혜 (202434982)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02 · EXTRACURRICULAR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2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비교과 추천 &amp; 로드맵 — 시연 · 데이터 · 동작방식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kern="0" spc="-1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자격 필터링과 가중치 스코어링, 최대 힙으로 ‘가장 적합한’ 순서 추천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58877"/>
            <a:ext cx="4983480" cy="2117487"/>
          </a:xfrm>
          <a:prstGeom prst="rect">
            <a:avLst/>
          </a:prstGeom>
          <a:effectLst>
            <a:outerShdw blurRad="165100" dist="50800" dir="27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4986091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· 시연 화면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852160" y="1783080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 데이터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52160" y="2093976"/>
            <a:ext cx="5788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EXTRA_PROGRAMS (15) · List of Lists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프로그램명·분야·타겟직무·최소학년·최소학점 — 핵심 마스터 데이터</a:t>
            </a:r>
            <a:endParaRPr lang="en-US" sz="115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EXTRA_ROADMAP (6직무) · Dictionary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직무 Key → 단계별 프로그램 리스트 (커리어 로드맵)</a:t>
            </a:r>
            <a:endParaRPr lang="en-US" sz="115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EXTRA_LINKS &amp; EXTRA_FIELD_SITES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 상세 URL · 분야별 추천 사이트 매핑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52160" y="3621024"/>
            <a:ext cx="578815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852160" y="3767328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방식  ·  설계 / 구현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70448" y="4078224"/>
            <a:ext cx="5769864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학년·학점·관심분야·희망직무를 POST 수신 → try-except로 유효성 검증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EXTRA_PROGRAMS 순회하며 최소 지원 자격으로 1차 필터링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분야·직무 일치마다 +50, 공통 프로그램 +20 합산 → 우선순위 점수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heapq 최소 힙에 −score로 삽입 → 최대 힙(Max-Heap) 구조 구현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큐에서 추출하며 해시 맵으로 URL을 O(1) 매핑, 로드맵 결합 후 JSON 반환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02 · EXTRACURRICULAR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2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자료구조 &amp; 알고리즘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kern="0" spc="-1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‘등록된 순서’가 아니라 ‘얼마나 적합한가’를 기준으로 꺼내는 구조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6811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자료구조  </a:t>
            </a:r>
            <a:r>
              <a:rPr lang="en-US" sz="16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 큐 (Priority Queue)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295144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pq = [] · while pq 추출 루프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5065776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추천은 등록 순서가 아니라 ‘적합도(점수)’가 기준이어야 합니다. 매번 전체 sort()는 비효율적이라, 스스로 우선순위 자리를 찾는 ‘정렬된 대기열’ 모델을 택했습니다.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6811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73368" y="194767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알고리즘  </a:t>
            </a:r>
            <a:r>
              <a:rPr lang="en-US" sz="16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힙 (Heap)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73368" y="2295144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heapq.heappush(-score) · heappop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73368" y="2606040"/>
            <a:ext cx="5065776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순차 탐색 O(N)·전체 정렬 O(N log N)과 달리 힙은 삽입·삭제 O(log N)을 보장합니다. 최소 힙만 지원하므로 −score로 최대 힙 효과를 구현했습니다.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01084"/>
            <a:ext cx="546811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49808" y="42656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알고리즘  </a:t>
            </a:r>
            <a:r>
              <a:rPr lang="en-US" sz="16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기반 추천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4613148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+= 50 · 분야/직무 일치도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4924044"/>
            <a:ext cx="5065776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관심도와 직무 적합도를 수치화해 개인 맞춤 추천을 제공합니다. +50/+20 가중치 설계로 공통 역량 프로그램도 소외되지 않는 균형을 만듭니다.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101084"/>
            <a:ext cx="546811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73368" y="42656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자료구조  </a:t>
            </a:r>
            <a:r>
              <a:rPr lang="en-US" sz="16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 (경로 탐색 개념)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3368" y="4613148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roadmap_service() · 직무 성장 단계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3368" y="4924044"/>
            <a:ext cx="5065776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목록이 아닌 경로(단계) 형태로 성장 흐름을 표현할 수 있어, 희망 직무에 맞춘 개인화된 커리어 로드맵 제공이 가능합니다.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kern="0" spc="-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취업 합격률 제공 서비스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kern="0" spc="-15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합격자 평균 스펙·기업 요구 스택과 비교한 기업별 합격 가능성 분석 — 이종혁 (202235305)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000" kern="0" spc="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CHAPTER 03 · JOB MATCH PREDICTOR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2800" b="1" kern="0" spc="-2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취업 합격률 서비스 — 시연 · 데이터 · 동작방식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800" kern="0" spc="-15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휴리스틱 점수화로 합격률을 추정하고, 부족한 역량은 트리 로드맵으로 시각화</a:t>
            </a:r>
            <a:endParaRPr lang="en-US" sz="1800"/>
          </a:p>
        </p:txBody>
      </p:sp>
      <p:sp>
        <p:nvSpPr>
          <p:cNvPr id="6" name="Text 3"/>
          <p:cNvSpPr/>
          <p:nvPr/>
        </p:nvSpPr>
        <p:spPr>
          <a:xfrm>
            <a:off x="548640" y="5961888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 kern="0" spc="100" dirty="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DEMO · </a:t>
            </a:r>
            <a:r>
              <a:rPr lang="en-US" sz="1000" kern="0" spc="100" dirty="0" err="1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시연</a:t>
            </a:r>
            <a:r>
              <a:rPr lang="en-US" sz="1000" kern="0" spc="100" dirty="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000" kern="0" spc="100" dirty="0" err="1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화면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852160" y="1783080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 b="1" kern="0" spc="1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INPUT 데이터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5852160" y="2093976"/>
            <a:ext cx="5788152" cy="12344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50" b="1" dirty="0" err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accepted_spec.csv</a:t>
            </a:r>
            <a:r>
              <a:rPr lang="en-US" sz="1150" b="1" dirty="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  </a:t>
            </a:r>
          </a:p>
          <a:p>
            <a:pPr marL="0" indent="0">
              <a:buNone/>
              <a:defRPr/>
            </a:pP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기업별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합격자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평균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스펙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학점·어학·자격증·인턴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등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1150" b="1" dirty="0" err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company_requirements.csv</a:t>
            </a:r>
            <a:endParaRPr lang="en-US" sz="1150" b="1" dirty="0">
              <a:solidFill>
                <a:srgbClr val="1D1D1F"/>
              </a:solidFill>
              <a:latin typeface="Pretendard"/>
              <a:ea typeface="Pretendard"/>
              <a:cs typeface="Pretendard"/>
            </a:endParaRPr>
          </a:p>
          <a:p>
            <a:pPr marL="0" indent="0">
              <a:buNone/>
              <a:defRPr/>
            </a:pP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기업·직무별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요구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기술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스택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보유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스택과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일치율</a:t>
            </a:r>
            <a:r>
              <a:rPr lang="en-US" sz="115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150" dirty="0" err="1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비교</a:t>
            </a:r>
            <a:endParaRPr lang="en-US" sz="1150" dirty="0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  <a:p>
            <a:pPr marL="0" indent="0">
              <a:buNone/>
              <a:defRPr/>
            </a:pPr>
            <a:endParaRPr lang="en-US" sz="1150" dirty="0">
              <a:solidFill>
                <a:srgbClr val="333333"/>
              </a:solidFill>
              <a:latin typeface="Pretendard"/>
              <a:ea typeface="Pretendard"/>
              <a:cs typeface="Pretendard"/>
            </a:endParaRPr>
          </a:p>
          <a:p>
            <a:pPr marL="0" indent="0">
              <a:buNone/>
              <a:defRPr/>
            </a:pPr>
            <a:r>
              <a:rPr lang="en-US" sz="1150" b="1" dirty="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en-US" sz="1150" b="1" dirty="0" err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출처</a:t>
            </a:r>
            <a:r>
              <a:rPr lang="en-US" sz="1150" b="1" dirty="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lang="en-US" sz="1150" b="1" dirty="0" err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잡코리아·원티드</a:t>
            </a:r>
            <a:r>
              <a:rPr lang="en-US" sz="1150" b="1" dirty="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 marL="0" indent="0">
              <a:buNone/>
              <a:defRPr/>
            </a:pPr>
            <a:endParaRPr lang="en-US" sz="1150" b="1" dirty="0">
              <a:solidFill>
                <a:srgbClr val="1D1D1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852160" y="3438144"/>
            <a:ext cx="578815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852160" y="3584448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 b="1" kern="0" spc="10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동작 방식  ·  설계 / 구현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5870448" y="3895344"/>
            <a:ext cx="5769864" cy="2093976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두 CSV를 Pandas DataFrame으로 메모리 적재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사용자 스펙 JSON 수신 → 정수/실수형으로 안전하게 변환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휴리스틱 점수화: 학점 20 · 어학 10 · 스택 20(일치당 +5) · 추가활동 10 (미달 시 비례 감점)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기술 스택 비교는 Set의 O(1) 멤버십 검사로 일치율 계산 (최종 99.9% 상한)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Timsort 내림차순 정렬 + 부족 역량을 트리 + DFS 전위 순회로 시각화</a:t>
            </a:r>
            <a:endParaRPr lang="en-US" sz="115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졸업시켜조 · 대학생활 통합 지원 시스템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11</a:t>
            </a:r>
            <a:endParaRPr lang="en-US" sz="9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5A8C7CD-32F4-BFB6-5D26-1699993C5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73" y="1837944"/>
            <a:ext cx="5050813" cy="4036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000" kern="0" spc="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CHAPTER 03 · JOB MATCH PREDICTOR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2800" b="1" kern="0" spc="-2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사용한 자료구조 &amp; 알고리즘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800" kern="0" spc="-15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조회는 해시로 O(1), 정렬은 팀 소트로, 로드맵은 트리와 DFS로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자료구조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해시 맵 (Hash Map)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749808" y="2295144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altLang="ko-KR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data, row_data</a:t>
            </a:r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사용자의 입력값과 기업 데이터를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key-value</a:t>
            </a: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형태로 저장하여 기업의 수가 방대해졌을 때도 데이터를 효율적으로 조회할 수 있어 처리 속도를 높일 수 있습니다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498848" y="194767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자료구조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해시 집합 (Hash Set)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498848" y="2295144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chosen_skills</a:t>
            </a:r>
          </a:p>
        </p:txBody>
      </p:sp>
      <p:sp>
        <p:nvSpPr>
          <p:cNvPr id="12" name="Text 10"/>
          <p:cNvSpPr/>
          <p:nvPr/>
        </p:nvSpPr>
        <p:spPr>
          <a:xfrm>
            <a:off x="4498848" y="2606040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선택한 기술 스택을 중복 없이 저장하고, </a:t>
            </a: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특정 기술의 보유 여부</a:t>
            </a: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검사를 O(1)에 끝내기 위해 선택했습니다.</a:t>
            </a:r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47888" y="194767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자료구조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일반 트리 (General Tree)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8247888" y="2295144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TreeNode 클래스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8247888" y="2606040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기업 맞춤형 로드맵을 계층 구조료 표현하기 위해 사용하였습니다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항목들의 관계를 구조적으로 표현할 수 있어 사용자에게 시각적으로 보기 쉬운 피드백을 제공할 수 있습니다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4101084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9808" y="4265676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알고리즘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해시 탐색 (Hash Search)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749808" y="4613148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if s in chosen_skills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749808" y="4924044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기업이 요구하는 기술 스택과 사용자의 보유 기술을 빠르게 비교하기 위해서 사용하였습니다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21" name="Shape 19"/>
          <p:cNvSpPr/>
          <p:nvPr/>
        </p:nvSpPr>
        <p:spPr>
          <a:xfrm>
            <a:off x="4297680" y="4101084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498848" y="4265676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알고리즘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휴리스틱 + 팀 소트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498848" y="4613148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if/else·min/max · res_table.sort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498848" y="4924044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사용자의 점수와 합격자 평균을 비교하고 가감산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및 가중치 수식으로 점수를 판정한 뒤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기업별 합격률을 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timsort</a:t>
            </a: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로 내림차순 정렬하였습니다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marL="0" indent="0">
              <a:buNone/>
              <a:defRPr/>
            </a:pP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기업 데이터 자체가 정렬되어 있을 가능성이 높다고 판단하여 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timsort</a:t>
            </a: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정렬이 가장 효율적이라고 판단하였습니다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25" name="Shape 23"/>
          <p:cNvSpPr/>
          <p:nvPr/>
        </p:nvSpPr>
        <p:spPr>
          <a:xfrm>
            <a:off x="8046720" y="4101084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247888" y="4265676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알고리즘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깊이 우선 탐색 (DFS)</a:t>
            </a:r>
            <a:r>
              <a:rPr lang="en-US" altLang="ko-KR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+</a:t>
            </a:r>
            <a:r>
              <a:rPr lang="ko-KR" alt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재귀</a:t>
            </a:r>
          </a:p>
        </p:txBody>
      </p:sp>
      <p:sp>
        <p:nvSpPr>
          <p:cNvPr id="27" name="Text 25"/>
          <p:cNvSpPr/>
          <p:nvPr/>
        </p:nvSpPr>
        <p:spPr>
          <a:xfrm>
            <a:off x="8247888" y="4613148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render_roadmap_tree() 재귀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8247888" y="4924044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로드맵 데이터를 트리 형태로 저장했기 때문에 부모 노드부터 자식 노드 끝까지 순서대로 탐색하여 출력하기 위해 사용하였습니다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lang="ko-KR" alt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 재귀 함수를 같이 사용해 구현을 간단하게 만들었습니다</a:t>
            </a:r>
            <a:r>
              <a:rPr lang="en-US" altLang="ko-KR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졸업시켜조 · 대학생활 통합 지원 시스템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kern="0" spc="-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졸업요건 진단 시스템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kern="0" spc="-15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 내역 진단과 학기별 수강 시뮬레이션으로 졸업 경로 설계 — 정회훈 (202235330)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04 · GRADUATION DIAGNOSIS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2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졸업요건 진단 — 시연 · 데이터 · 동작방식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kern="0" spc="-1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기이수 진단 후, 제약 조건 시뮬레이션으로 학기별 추천 과목을 자동 배정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92130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· 시연 화면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852160" y="1783080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 데이터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52160" y="2093976"/>
            <a:ext cx="5788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subjects.csv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컴퓨터공학과 전공·교양 과목 마스터 데이터</a:t>
            </a:r>
            <a:endParaRPr lang="en-US" sz="115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completed_codes · gen_ed_credits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 과목 코드 리스트 · 일반교양 누적 학점</a:t>
            </a:r>
            <a:endParaRPr lang="en-US" sz="115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current_semester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이수 학기 수 — 가상 학년·월반 </a:t>
            </a:r>
            <a:r>
              <a:rPr lang="en-US" sz="115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</a:t>
            </a: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</a:t>
            </a:r>
            <a:endParaRPr lang="en-US" sz="1150" dirty="0">
              <a:solidFill>
                <a:srgbClr val="33333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buNone/>
            </a:pPr>
            <a:endParaRPr lang="en-US" sz="1150" dirty="0">
              <a:solidFill>
                <a:srgbClr val="33333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r>
              <a:rPr lang="en-US" altLang="ko-KR" sz="1150" b="1" dirty="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en-US" altLang="ko-KR" sz="1150" b="1" dirty="0" err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출처</a:t>
            </a:r>
            <a:r>
              <a:rPr lang="en-US" altLang="ko-KR" sz="1150" b="1" dirty="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lang="ko-KR" altLang="en-US" sz="1150" b="1" dirty="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가천대학교 수강신청 목록 데이터 가공</a:t>
            </a:r>
            <a:r>
              <a:rPr lang="en-US" altLang="ko-KR" sz="1150" b="1" dirty="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52160" y="3621024"/>
            <a:ext cx="5788152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852160" y="3767328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방식  ·  설계 / 구현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70448" y="4078224"/>
            <a:ext cx="5769864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subjects.csv 로드(인코딩 예외처리) → 고유 객체 배열 상주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기이수 코드 zfill(8) 정규화 + seen_groups(앞 5자리)로 중복 수강 O(1) 검사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전필·전선·교양</a:t>
            </a: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en-US" altLang="ko-KR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사회봉사</a:t>
            </a:r>
            <a:r>
              <a:rPr lang="en-US" altLang="ko-KR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졸업논문</a:t>
            </a:r>
            <a:r>
              <a:rPr lang="en-US" altLang="ko-KR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작품</a:t>
            </a:r>
            <a:r>
              <a:rPr lang="en-US" altLang="ko-KR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총학점</a:t>
            </a: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(120) 진단 — 충족 시 </a:t>
            </a:r>
            <a:r>
              <a:rPr lang="ko-KR" alt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가능</a:t>
            </a: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문구 반환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미충족 시 최대 10학기 루프: 개설 학기·가상 학년 판별로 ‘월반’ 차단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추천학년+이수구분 복합점수 병합정렬 → 동점 그룹 셔플 → 교양 1과목 선점 후 18학점 </a:t>
            </a:r>
            <a:r>
              <a:rPr lang="en-US" sz="115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그리디</a:t>
            </a: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</a:t>
            </a: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</a:t>
            </a:r>
            <a:r>
              <a:rPr lang="en-US" altLang="ko-KR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졸업 요건을 충족한 영역</a:t>
            </a:r>
            <a:r>
              <a:rPr lang="en-US" altLang="ko-KR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전공심화 포함</a:t>
            </a:r>
            <a:r>
              <a:rPr lang="en-US" altLang="ko-KR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r>
              <a:rPr lang="ko-KR" alt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 배제하고 담음</a:t>
            </a:r>
            <a:r>
              <a:rPr lang="en-US" altLang="ko-KR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ED3D3C6-097B-2B18-1D2C-E91B89DD3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92" y="1627632"/>
            <a:ext cx="5066228" cy="4041647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CB349384-E5FB-2AA0-E474-C6EF9210C1B8}"/>
              </a:ext>
            </a:extLst>
          </p:cNvPr>
          <p:cNvSpPr/>
          <p:nvPr/>
        </p:nvSpPr>
        <p:spPr>
          <a:xfrm>
            <a:off x="548640" y="5961888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 kern="0" spc="100" dirty="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DEMO · </a:t>
            </a:r>
            <a:r>
              <a:rPr lang="en-US" sz="1000" kern="0" spc="100" dirty="0" err="1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시연</a:t>
            </a:r>
            <a:r>
              <a:rPr lang="en-US" sz="1000" kern="0" spc="100" dirty="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000" kern="0" spc="100" dirty="0" err="1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화면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000" kern="0" spc="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CHAPTER 04 · GRADUATION DIAGNOSIS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2800" b="1" kern="0" spc="-2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사용한 자료구조 &amp; 알고리즘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800" kern="0" spc="-15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현실의 수강신청 시나리오를 닮은, 무작위성이 융합된 탐욕적 배정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자료구조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리스트 (List)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749808" y="2295144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grad_db · valid_completed · sem_c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전체·이수·추천 과목을 순차로 담는 동적 배열입니다. 순서가 중요하고 조건 필터링이 잦을 때 가장 직관적이고 효율적이라 사용했습니다.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498848" y="194767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자료구조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해시 테이블 (Dict)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498848" y="2295144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reqs · earned · grad_cat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498848" y="2606040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이수구분별 요구·취득 학점을 매핑해 누적합을 계산합니다. Key 탐색 O(1)이라 카테고리별 학점을 즉각 연산·비교하는 데 최적입니다.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47888" y="194767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자료구조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해시 집합 (Set)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8247888" y="2295144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seen_groups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8247888" y="2606040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과목 코드 앞 5자리로 동일 학수 과목 중복을 막는 ‘락 주머니’입니다. O(1) 멤버십 검사로 실시간 시뮬레이션 속도를 높였습니다.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548640" y="4101084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9808" y="4265676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알고리즘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병합 정렬 (Merge Sort)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749808" y="4613148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merge_sort_subjects (직접 구현)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749808" y="4924044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추천 과목을 학년·이수구분 점수로 정렬합니다. O(N log N) 보장에 안정 정렬 특성으로 동점 과목의 원래 순서를 통제합니다.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4297680" y="4101084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498848" y="4265676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알고리즘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무작위성 융합 그리디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498848" y="4613148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simulate_grad · shuffle_within_priority_groups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498848" y="4924044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전수 조사 대신 동일 우선순위 그룹 내부만 셔플 후 18학점까지 채웁니다. 실제 수강신청 시나리오에 가장 부합하는 휴리스틱입니다.</a:t>
            </a:r>
            <a:endParaRPr lang="en-US" sz="1150"/>
          </a:p>
        </p:txBody>
      </p:sp>
      <p:sp>
        <p:nvSpPr>
          <p:cNvPr id="25" name="Shape 23"/>
          <p:cNvSpPr/>
          <p:nvPr/>
        </p:nvSpPr>
        <p:spPr>
          <a:xfrm>
            <a:off x="8046720" y="4101084"/>
            <a:ext cx="3593592" cy="2162556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247888" y="4265676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050" b="1" kern="0" spc="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설계 포인트  </a:t>
            </a:r>
            <a:r>
              <a:rPr lang="en-US" sz="1500" b="1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동적 제약 필터링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8247888" y="4613148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매 가상 학기 avail 후보군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8247888" y="4924044"/>
            <a:ext cx="3191256" cy="117500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기이수 제외·개설 학기·월반 제한을 매 학기 재검사해 후보군을 구성하고, 교양 1과목 선점으로 전공 몰림을 방지합니다.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졸업시켜조 · 대학생활 통합 지원 시스템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889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kern="0" spc="-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시연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kern="0" spc="-15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 기능을 실제 화면에서 직접 시연합니다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LESSONS LEARNED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Lessons Learned — 팀 PMI 종합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kern="0" spc="-15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사람의 Plus · Minus · Interesting을 하나로 모았습니다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93592" cy="3383280"/>
          </a:xfrm>
          <a:prstGeom prst="roundRect">
            <a:avLst>
              <a:gd name="adj" fmla="val 3243"/>
            </a:avLst>
          </a:prstGeom>
          <a:solidFill>
            <a:srgbClr val="2A2A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200253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313639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수업에서 텍스트로만 배운 자료구조·알고리즘을 실제 서비스에 적용하며 목적과 동작을 구체적으로 이해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heapq 등 시간 복잡도 최적화로 실용성을 체감, 사용자 중심 가중치 설계 경험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프론트–백엔드 데이터 규약, 코드 분석·피드백 등 협업의 중요성과 시너지를 체감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93592" cy="3383280"/>
          </a:xfrm>
          <a:prstGeom prst="roundRect">
            <a:avLst>
              <a:gd name="adj" fmla="val 3243"/>
            </a:avLst>
          </a:prstGeom>
          <a:solidFill>
            <a:srgbClr val="2A2A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26280" y="200253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404872"/>
            <a:ext cx="313639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최선의 알고리즘을 택하지 못했고, 데이터 하드코딩·동점자 처리 등 설계 한계 존재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팀원마다 개발 속도·방식이 달라 코드 통합과 일정 조율에 예상보다 많은 시간 소요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입력이 많아 번거로울 수 있고, AI도 로직을 정확히 전달하지 못하면 한계가 있음을 경험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783080"/>
            <a:ext cx="3593592" cy="3383280"/>
          </a:xfrm>
          <a:prstGeom prst="roundRect">
            <a:avLst>
              <a:gd name="adj" fmla="val 3243"/>
            </a:avLst>
          </a:prstGeom>
          <a:solidFill>
            <a:srgbClr val="2A2A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75320" y="200253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INTERESTING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2404872"/>
            <a:ext cx="313639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−score 부호 반전으로 최소 힙 제약을 넘는 등, 라이브러리 한계를 아이디어로 극복하는 묘미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ngrok·호스트 바인딩 등 네트워크 인프라와 실제 데이터 가공의 복잡함을 직접 체감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tkinter GUI 첫 작성, 서로 다른 관점의 코드를 분석·피드백하며 자신의 코드를 돌아보는 경험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13248"/>
            <a:ext cx="38405" cy="713232"/>
          </a:xfrm>
          <a:prstGeom prst="rect">
            <a:avLst/>
          </a:prstGeom>
          <a:solidFill>
            <a:srgbClr val="299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5468112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kern="0" spc="-1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“이론으로만 배웠던 알고리즘이, 진짜로 작동하는 서비스가 되었다 — 그리고 그 과정에서 협업과 데이터의 무게를 배웠다.”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졸업시켜조 · 대학생활 통합 지원 시스템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7395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kern="0" spc="-3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kern="0" spc="-15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대학생활 통합 지원 시스템 · 졸업시켜조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박시현 202432734 · 백승혜 202434982 · 이종혁 202235305 · 정회훈 202235330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2260</Words>
  <Application>Microsoft Office PowerPoint</Application>
  <PresentationFormat>와이드스크린</PresentationFormat>
  <Paragraphs>280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대학생활 통합 지원 시스템</dc:title>
  <dc:subject>PptxGenJS Presentation</dc:subject>
  <dc:creator>졸업시켜조</dc:creator>
  <cp:lastModifiedBy>hoehun jung</cp:lastModifiedBy>
  <cp:revision>11</cp:revision>
  <dcterms:created xsi:type="dcterms:W3CDTF">2026-06-11T19:45:18Z</dcterms:created>
  <dcterms:modified xsi:type="dcterms:W3CDTF">2026-06-18T12:24:40Z</dcterms:modified>
  <cp:version/>
</cp:coreProperties>
</file>